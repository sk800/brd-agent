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738"/>
                </a:solidFill>
              </a:defRPr>
            </a:pPr>
            <a:r>
              <a:t>Agentic AI Requirements Engineering Platform —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17720" y="777240"/>
            <a:ext cx="2834640" cy="566928"/>
          </a:xfrm>
          <a:prstGeom prst="roundRect">
            <a:avLst/>
          </a:prstGeom>
          <a:solidFill>
            <a:srgbClr val="DDEBFF"/>
          </a:solidFill>
          <a:ln w="16510">
            <a:solidFill>
              <a:srgbClr val="3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2D3C"/>
                </a:solidFill>
              </a:defRPr>
            </a:pPr>
            <a:r>
              <a:t>USER INPUT / CONVERSATIONAL 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600200"/>
            <a:ext cx="2331720" cy="621792"/>
          </a:xfrm>
          <a:prstGeom prst="roundRect">
            <a:avLst/>
          </a:prstGeom>
          <a:solidFill>
            <a:srgbClr val="E8F0FE"/>
          </a:solidFill>
          <a:ln w="16510">
            <a:solidFill>
              <a:srgbClr val="47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D3C"/>
                </a:solidFill>
              </a:defRPr>
            </a:pPr>
            <a:r>
              <a:t>Requirement Intake</a:t>
            </a:r>
            <a:br/>
            <a:r>
              <a:t>&amp; Clarification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600200"/>
            <a:ext cx="2331720" cy="621792"/>
          </a:xfrm>
          <a:prstGeom prst="roundRect">
            <a:avLst/>
          </a:prstGeom>
          <a:solidFill>
            <a:srgbClr val="E8F0FE"/>
          </a:solidFill>
          <a:ln w="16510">
            <a:solidFill>
              <a:srgbClr val="47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D3C"/>
                </a:solidFill>
              </a:defRPr>
            </a:pPr>
            <a:r>
              <a:t>Ingestion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606040"/>
            <a:ext cx="3108960" cy="685800"/>
          </a:xfrm>
          <a:prstGeom prst="roundRect">
            <a:avLst/>
          </a:prstGeom>
          <a:solidFill>
            <a:srgbClr val="E2F7EE"/>
          </a:solidFill>
          <a:ln w="16510">
            <a:solidFill>
              <a:srgbClr val="408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D3C"/>
                </a:solidFill>
              </a:defRPr>
            </a:pPr>
            <a:r>
              <a:t>Content Assembly &amp; Context 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3657600"/>
            <a:ext cx="2926080" cy="594360"/>
          </a:xfrm>
          <a:prstGeom prst="roundRect">
            <a:avLst/>
          </a:prstGeom>
          <a:solidFill>
            <a:srgbClr val="FFF4DC"/>
          </a:solidFill>
          <a:ln w="16510">
            <a:solidFill>
              <a:srgbClr val="B58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D3C"/>
                </a:solidFill>
              </a:defRPr>
            </a:pPr>
            <a:r>
              <a:t>Input Validation &amp; Guardrails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4526280"/>
            <a:ext cx="2926080" cy="594360"/>
          </a:xfrm>
          <a:prstGeom prst="roundRect">
            <a:avLst/>
          </a:prstGeom>
          <a:solidFill>
            <a:srgbClr val="EAE3FC"/>
          </a:solidFill>
          <a:ln w="16510">
            <a:solidFill>
              <a:srgbClr val="775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D3C"/>
                </a:solidFill>
              </a:defRPr>
            </a:pPr>
            <a:r>
              <a:t>LLM / Agentic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5394960"/>
            <a:ext cx="2926080" cy="594360"/>
          </a:xfrm>
          <a:prstGeom prst="roundRect">
            <a:avLst/>
          </a:prstGeom>
          <a:solidFill>
            <a:srgbClr val="FFF4DC"/>
          </a:solidFill>
          <a:ln w="16510">
            <a:solidFill>
              <a:srgbClr val="B58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D3C"/>
                </a:solidFill>
              </a:defRPr>
            </a:pPr>
            <a:r>
              <a:t>Output Validation &amp; Guardrails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6144768"/>
            <a:ext cx="2926080" cy="502920"/>
          </a:xfrm>
          <a:prstGeom prst="roundRect">
            <a:avLst/>
          </a:prstGeom>
          <a:solidFill>
            <a:srgbClr val="DDEBFF"/>
          </a:solidFill>
          <a:ln w="16510">
            <a:solidFill>
              <a:srgbClr val="3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D3C"/>
                </a:solidFill>
              </a:defRPr>
            </a:pPr>
            <a:r>
              <a:t>User Feedback /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3246120" cy="658368"/>
          </a:xfrm>
          <a:prstGeom prst="roundRect">
            <a:avLst/>
          </a:prstGeom>
          <a:solidFill>
            <a:srgbClr val="F0F2F6"/>
          </a:solidFill>
          <a:ln w="16510">
            <a:solidFill>
              <a:srgbClr val="75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D3C"/>
                </a:solidFill>
              </a:defRPr>
            </a:pPr>
            <a:r>
              <a:t>Enterprise Knowledge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084831"/>
            <a:ext cx="3063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05C69"/>
                </a:solidFill>
              </a:defRPr>
            </a:pPr>
            <a:r>
              <a:t>Confluence • Other Databases</a:t>
            </a:r>
            <a:br/>
            <a:r>
              <a:t>Slack • Enterprise Platforms /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063240"/>
            <a:ext cx="3246120" cy="685800"/>
          </a:xfrm>
          <a:prstGeom prst="roundRect">
            <a:avLst/>
          </a:prstGeom>
          <a:solidFill>
            <a:srgbClr val="F8E8E8"/>
          </a:solidFill>
          <a:ln w="16510">
            <a:solidFill>
              <a:srgbClr val="AA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D3C"/>
                </a:solidFill>
              </a:defRPr>
            </a:pPr>
            <a:r>
              <a:t>Post-Experience Memory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767328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505C69"/>
                </a:solidFill>
              </a:defRPr>
            </a:pPr>
            <a:r>
              <a:t>Conversation history • Decisions • Feedback</a:t>
            </a:r>
            <a:br/>
            <a:r>
              <a:t>Reusable requirement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377440"/>
            <a:ext cx="2240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A5B5B"/>
                </a:solidFill>
              </a:defRPr>
            </a:pPr>
            <a:r>
              <a:t>If context is insufficient:</a:t>
            </a:r>
            <a:br/>
            <a:r>
              <a:t>ask user for more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457200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AA5B5B"/>
                </a:solidFill>
              </a:defRPr>
            </a:pPr>
            <a:r>
              <a:t>No / needs clarification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80644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08B68"/>
                </a:solidFill>
              </a:defRPr>
            </a:pPr>
            <a:r>
              <a:t>Yes / approved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017520" y="1344168"/>
            <a:ext cx="3017520" cy="256032"/>
          </a:xfrm>
          <a:prstGeom prst="line">
            <a:avLst/>
          </a:prstGeom>
          <a:ln w="2159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35040" y="1344168"/>
            <a:ext cx="18288" cy="256032"/>
          </a:xfrm>
          <a:prstGeom prst="line">
            <a:avLst/>
          </a:prstGeom>
          <a:ln w="2159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99232" y="2221992"/>
            <a:ext cx="1618488" cy="384048"/>
          </a:xfrm>
          <a:prstGeom prst="line">
            <a:avLst/>
          </a:prstGeom>
          <a:ln w="2159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577840" y="2221992"/>
            <a:ext cx="475488" cy="384048"/>
          </a:xfrm>
          <a:prstGeom prst="line">
            <a:avLst/>
          </a:prstGeom>
          <a:ln w="2159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00600" y="3291840"/>
            <a:ext cx="0" cy="365760"/>
          </a:xfrm>
          <a:prstGeom prst="line">
            <a:avLst/>
          </a:prstGeom>
          <a:ln w="2159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800600" y="4251960"/>
            <a:ext cx="0" cy="274320"/>
          </a:xfrm>
          <a:prstGeom prst="line">
            <a:avLst/>
          </a:prstGeom>
          <a:ln w="2159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00600" y="5120640"/>
            <a:ext cx="0" cy="274320"/>
          </a:xfrm>
          <a:prstGeom prst="line">
            <a:avLst/>
          </a:prstGeom>
          <a:ln w="2159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800600" y="5989320"/>
            <a:ext cx="0" cy="155448"/>
          </a:xfrm>
          <a:prstGeom prst="line">
            <a:avLst/>
          </a:prstGeom>
          <a:ln w="2159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355080" y="1874519"/>
            <a:ext cx="1463040" cy="1005841"/>
          </a:xfrm>
          <a:prstGeom prst="line">
            <a:avLst/>
          </a:prstGeom>
          <a:ln w="2159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355080" y="1874519"/>
            <a:ext cx="1463040" cy="1188721"/>
          </a:xfrm>
          <a:prstGeom prst="line">
            <a:avLst/>
          </a:prstGeom>
          <a:ln w="2159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6355080" y="3337560"/>
            <a:ext cx="1463040" cy="64008"/>
          </a:xfrm>
          <a:prstGeom prst="line">
            <a:avLst/>
          </a:prstGeom>
          <a:ln w="21590">
            <a:solidFill>
              <a:srgbClr val="AA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355080" y="3520440"/>
            <a:ext cx="1463040" cy="91440"/>
          </a:xfrm>
          <a:prstGeom prst="line">
            <a:avLst/>
          </a:prstGeom>
          <a:ln w="21590">
            <a:solidFill>
              <a:srgbClr val="AA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263640" y="3749039"/>
            <a:ext cx="3063240" cy="2633473"/>
          </a:xfrm>
          <a:prstGeom prst="line">
            <a:avLst/>
          </a:prstGeom>
          <a:ln w="21590">
            <a:solidFill>
              <a:srgbClr val="AA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66760" y="4892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AA5B5B"/>
                </a:solidFill>
              </a:defRPr>
            </a:pPr>
            <a:r>
              <a:t>Update memory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914400" y="6382512"/>
            <a:ext cx="2423160" cy="0"/>
          </a:xfrm>
          <a:prstGeom prst="line">
            <a:avLst/>
          </a:prstGeom>
          <a:ln w="19050">
            <a:solidFill>
              <a:srgbClr val="AA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14400" y="1901952"/>
            <a:ext cx="0" cy="4480560"/>
          </a:xfrm>
          <a:prstGeom prst="line">
            <a:avLst/>
          </a:prstGeom>
          <a:ln w="19050">
            <a:solidFill>
              <a:srgbClr val="AA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14400" y="1901952"/>
            <a:ext cx="914400" cy="0"/>
          </a:xfrm>
          <a:prstGeom prst="line">
            <a:avLst/>
          </a:prstGeom>
          <a:ln w="19050">
            <a:solidFill>
              <a:srgbClr val="AA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37160" y="59893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AA5B5B"/>
                </a:solidFill>
              </a:defRPr>
            </a:pPr>
            <a:r>
              <a:t>Clarification loop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617220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646E78"/>
                </a:solidFill>
              </a:defRPr>
            </a:pPr>
            <a:r>
              <a:t>Core flow →   |   Context / memory 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60196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69737D"/>
                </a:solidFill>
              </a:defRPr>
            </a:pPr>
            <a:r>
              <a:t>Purpose: discover → validate → enrich → generate → validate → learn, with traceable context and continuous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